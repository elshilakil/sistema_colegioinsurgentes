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24285575" cx="314277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649">
          <p15:clr>
            <a:srgbClr val="A4A3A4"/>
          </p15:clr>
        </p15:guide>
        <p15:guide id="2" pos="9899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2jFeDO/IhT9IJqy8IjYaoR1Ox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649" orient="horz"/>
        <p:guide pos="989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7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211263" y="685800"/>
            <a:ext cx="443706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-MX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Proyecto debe reflejar el tema central que se va a desarrollar; debe ser claro, breve y conciso, sin perder la esencia del tema a desarrollar. Se sugiere usar 10 palabras, con un máximo de hasta 15.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1211263" y="685800"/>
            <a:ext cx="443706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1211263" y="685800"/>
            <a:ext cx="443706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1211263" y="685800"/>
            <a:ext cx="4437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1211263" y="685800"/>
            <a:ext cx="443706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1211263" y="685800"/>
            <a:ext cx="4437062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121057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1071344" y="3515593"/>
            <a:ext cx="29285399" cy="969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3375" lIns="353375" spcFirstLastPara="1" rIns="353375" wrap="square" tIns="3533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  <a:defRPr b="0" i="0" sz="20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1071315" y="13381631"/>
            <a:ext cx="29285399" cy="3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1071315" y="210123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1071315" y="5441537"/>
            <a:ext cx="29285399" cy="16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indent="-673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AutoNum type="arabicPeriod"/>
              <a:defRPr b="0" i="0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71500" lvl="1" marL="914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alphaL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71500" lvl="2" marL="1371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romanL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1500" lvl="3" marL="18288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arabi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1500" lvl="4" marL="22860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alphaL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1500" lvl="5" marL="27432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romanL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1500" lvl="6" marL="3200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arabi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1500" lvl="7" marL="3657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AutoNum type="alphaL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1500" lvl="8" marL="4114800" marR="0" algn="l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5400"/>
              <a:buFont typeface="Arial"/>
              <a:buAutoNum type="romanLcPeriod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1071315" y="10155474"/>
            <a:ext cx="29285399" cy="39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Font typeface="Arial"/>
              <a:buNone/>
              <a:defRPr b="0" i="0" sz="13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1071315" y="210123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1071315" y="5441537"/>
            <a:ext cx="13747800" cy="16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indent="-571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20700" lvl="1" marL="914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20700" lvl="2" marL="1371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20700" lvl="3" marL="18288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20700" lvl="4" marL="22860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20700" lvl="5" marL="27432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20700" lvl="6" marL="3200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20700" lvl="7" marL="3657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20700" lvl="8" marL="4114800" marR="0" algn="l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16608997" y="5441537"/>
            <a:ext cx="13747800" cy="16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indent="-5715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20700" lvl="1" marL="914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20700" lvl="2" marL="1371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20700" lvl="3" marL="18288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20700" lvl="4" marL="22860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20700" lvl="5" marL="27432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20700" lvl="6" marL="3200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20700" lvl="7" marL="3657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20700" lvl="8" marL="4114800" marR="0" algn="l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1071315" y="210123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1071315" y="2623326"/>
            <a:ext cx="9651000" cy="356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3375" lIns="353375" spcFirstLastPara="1" rIns="353375" wrap="square" tIns="35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Arial"/>
              <a:buNone/>
              <a:defRPr b="0" i="0" sz="9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1071315" y="6561149"/>
            <a:ext cx="9651000" cy="15012001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indent="-5207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20700" lvl="1" marL="914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20700" lvl="2" marL="1371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20700" lvl="3" marL="18288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20700" lvl="4" marL="22860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20700" lvl="5" marL="27432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20700" lvl="6" marL="3200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●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20700" lvl="7" marL="3657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Char char="○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20700" lvl="8" marL="4114800" marR="0" algn="l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4600"/>
              <a:buFont typeface="Arial"/>
              <a:buChar char="■"/>
              <a:defRPr b="0" i="0" sz="4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1684993" y="2125433"/>
            <a:ext cx="21886200" cy="19315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0"/>
              <a:buFont typeface="Arial"/>
              <a:buNone/>
              <a:defRPr b="0" i="0" sz="18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15714000" y="-590"/>
            <a:ext cx="15714000" cy="242855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912526" y="5822571"/>
            <a:ext cx="13903500" cy="6998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3375" lIns="353375" spcFirstLastPara="1" rIns="353375" wrap="square" tIns="3533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Arial"/>
              <a:buNone/>
              <a:defRPr b="0" i="0" sz="16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912526" y="13235027"/>
            <a:ext cx="13903500" cy="58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100"/>
              <a:buFont typeface="Arial"/>
              <a:buNone/>
              <a:defRPr b="0" i="0" sz="8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16977100" y="3418800"/>
            <a:ext cx="13187699" cy="174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-6731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b="0" i="0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71500" lvl="1" marL="914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71500" lvl="2" marL="1371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1500" lvl="3" marL="18288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1500" lvl="4" marL="22860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1500" lvl="5" marL="27432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1500" lvl="6" marL="32004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1500" lvl="7" marL="3657600" marR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1500" lvl="8" marL="4114800" marR="0" algn="l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1071315" y="19975123"/>
            <a:ext cx="206178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  <a:defRPr b="0" i="0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1071315" y="5222691"/>
            <a:ext cx="29285399" cy="9270900"/>
          </a:xfrm>
          <a:prstGeom prst="rect">
            <a:avLst/>
          </a:prstGeom>
          <a:noFill/>
          <a:ln>
            <a:noFill/>
          </a:ln>
        </p:spPr>
        <p:txBody>
          <a:bodyPr anchorCtr="0" anchor="b" bIns="353375" lIns="353375" spcFirstLastPara="1" rIns="353375" wrap="square" tIns="3533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400"/>
              <a:buFont typeface="Arial"/>
              <a:buNone/>
              <a:defRPr b="0" i="0" sz="46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1071315" y="14883577"/>
            <a:ext cx="29285399" cy="61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indent="-673100" lvl="0" marL="45720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b="0" i="0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71500" lvl="1" marL="9144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71500" lvl="2" marL="13716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1500" lvl="3" marL="18288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1500" lvl="4" marL="22860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1500" lvl="5" marL="27432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1500" lvl="6" marL="32004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1500" lvl="7" marL="3657600" marR="0" algn="ctr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1500" lvl="8" marL="4114800" marR="0" algn="ctr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1071315" y="210123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  <a:defRPr b="0" i="0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1071315" y="5441537"/>
            <a:ext cx="29285399" cy="16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>
            <a:lvl1pPr indent="-673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Char char="●"/>
              <a:defRPr b="0" i="0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71500" lvl="1" marL="9144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571500" lvl="2" marL="13716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571500" lvl="3" marL="18288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571500" lvl="4" marL="22860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571500" lvl="5" marL="27432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571500" lvl="6" marL="32004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●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571500" lvl="7" marL="3657600" marR="0" rtl="0" algn="l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Char char="○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571500" lvl="8" marL="4114800" marR="0" rtl="0" algn="l">
              <a:lnSpc>
                <a:spcPct val="115000"/>
              </a:lnSpc>
              <a:spcBef>
                <a:spcPts val="6200"/>
              </a:spcBef>
              <a:spcAft>
                <a:spcPts val="6200"/>
              </a:spcAft>
              <a:buClr>
                <a:schemeClr val="dk2"/>
              </a:buClr>
              <a:buSzPts val="5400"/>
              <a:buFont typeface="Arial"/>
              <a:buChar char="■"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  <a:defRPr b="0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071300" y="6531025"/>
            <a:ext cx="29285400" cy="154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3375" lIns="353375" spcFirstLastPara="1" rIns="353375" wrap="square" tIns="353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</a:pPr>
            <a:r>
              <a:rPr lang="es-MX" sz="12000"/>
              <a:t>Sistema Web de Gestión de Información Académica</a:t>
            </a:r>
            <a:br>
              <a:rPr b="0" i="1" lang="es-MX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1" sz="5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</a:pPr>
            <a:r>
              <a:rPr b="0" i="0" lang="es-MX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Anteproyecto de Residencia Profesional que presenta</a:t>
            </a:r>
            <a:br>
              <a:rPr b="0" i="0" lang="es-MX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8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100"/>
              <a:buFont typeface="Arial"/>
              <a:buNone/>
            </a:pPr>
            <a:r>
              <a:rPr lang="es-MX" sz="10800"/>
              <a:t>COLEGIO INSURGENTES</a:t>
            </a:r>
            <a:endParaRPr sz="10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</a:pPr>
            <a:r>
              <a:t/>
            </a:r>
            <a:endParaRPr i="1" sz="8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</a:pPr>
            <a:r>
              <a:rPr i="1" lang="es-MX" sz="8800"/>
              <a:t>Suarez Briseño Allen Jacob</a:t>
            </a:r>
            <a:endParaRPr sz="10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</a:pPr>
            <a:r>
              <a:rPr i="1" lang="es-MX" sz="8800"/>
              <a:t>21212056</a:t>
            </a:r>
            <a:endParaRPr i="1" sz="8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800"/>
              <a:buFont typeface="Arial"/>
              <a:buNone/>
            </a:pPr>
            <a:r>
              <a:rPr lang="es-MX" sz="8800"/>
              <a:t>Ingenieria en Sistemas Computacionales</a:t>
            </a:r>
            <a:endParaRPr sz="10800"/>
          </a:p>
        </p:txBody>
      </p:sp>
      <p:sp>
        <p:nvSpPr>
          <p:cNvPr id="55" name="Google Shape;55;p1"/>
          <p:cNvSpPr txBox="1"/>
          <p:nvPr/>
        </p:nvSpPr>
        <p:spPr>
          <a:xfrm>
            <a:off x="2109675" y="4307125"/>
            <a:ext cx="27731700" cy="18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s-MX" sz="9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Departamento de Sistemas y Computación</a:t>
            </a:r>
            <a:endParaRPr b="0" i="0" sz="9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18013680" y="21945600"/>
            <a:ext cx="159548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MX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Tijuana, B.C. a </a:t>
            </a:r>
            <a:r>
              <a:rPr lang="es-MX" sz="6000"/>
              <a:t>20</a:t>
            </a:r>
            <a:r>
              <a:rPr b="0" i="0" lang="es-MX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s-MX" sz="6000"/>
              <a:t>Enero </a:t>
            </a:r>
            <a:r>
              <a:rPr b="0" i="0" lang="es-MX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20</a:t>
            </a:r>
            <a:r>
              <a:rPr lang="es-MX" sz="6000"/>
              <a:t>25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1071283" y="429628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</a:pPr>
            <a:r>
              <a:rPr lang="es-MX"/>
              <a:t>1</a:t>
            </a:r>
            <a:r>
              <a:rPr b="0" i="0" lang="es-MX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Delimitación 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1537821" y="7599287"/>
            <a:ext cx="27582084" cy="13819799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rPr lang="es-MX" sz="5400"/>
              <a:t>El presente proyecto consiste en el desarrollo de un Sistema</a:t>
            </a:r>
            <a:r>
              <a:rPr lang="es-MX" sz="5400"/>
              <a:t> de Control Escolar para el Colegio Insurgentes con</a:t>
            </a:r>
            <a:r>
              <a:rPr lang="es-MX" sz="5400"/>
              <a:t> enfoque principal en la centralización del ciclo de vida del estudiante, desde su registro hasta la emisión de resultados finales.</a:t>
            </a:r>
            <a:endParaRPr sz="5400"/>
          </a:p>
          <a:p>
            <a:pPr indent="0" lvl="0" marL="0" marR="0" rtl="0" algn="just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rPr lang="es-MX" sz="5400"/>
              <a:t>Funcionalidades centrales:</a:t>
            </a:r>
            <a:endParaRPr sz="5400"/>
          </a:p>
          <a:p>
            <a:pPr indent="-571500" lvl="0" marL="457200" marR="0" rtl="0" algn="just">
              <a:lnSpc>
                <a:spcPct val="115000"/>
              </a:lnSpc>
              <a:spcBef>
                <a:spcPts val="6200"/>
              </a:spcBef>
              <a:spcAft>
                <a:spcPts val="0"/>
              </a:spcAft>
              <a:buSzPts val="5400"/>
              <a:buChar char="●"/>
            </a:pPr>
            <a:r>
              <a:rPr lang="es-MX" sz="5400"/>
              <a:t>Administración de Entidades: Control de registros de alumnos, maestros, grupos y materias.</a:t>
            </a:r>
            <a:endParaRPr sz="5400"/>
          </a:p>
          <a:p>
            <a:pPr indent="-571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s-MX" sz="5400"/>
              <a:t>Control de Carga Académica: Proceso de vinculación entre docentes y sus respectivos grupos y asignaturas.</a:t>
            </a:r>
            <a:endParaRPr sz="5400"/>
          </a:p>
          <a:p>
            <a:pPr indent="-571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s-MX" sz="5400"/>
              <a:t>Gestión de Evaluaciones: Interfaz para el registro de calificaciones parciales y asistencias por parte del docente.</a:t>
            </a:r>
            <a:endParaRPr sz="5400"/>
          </a:p>
          <a:p>
            <a:pPr indent="-5715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400"/>
              <a:buChar char="●"/>
            </a:pPr>
            <a:r>
              <a:rPr lang="es-MX" sz="5400"/>
              <a:t>Procesamiento de Resultados: Cálculo automático de promedios y generación de boletas de consulta.</a:t>
            </a:r>
            <a:endParaRPr sz="5400"/>
          </a:p>
        </p:txBody>
      </p:sp>
      <p:sp>
        <p:nvSpPr>
          <p:cNvPr id="63" name="Google Shape;63;p2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fld id="{00000000-1234-1234-1234-123412341234}" type="slidenum">
              <a:rPr b="0" i="0" lang="es-MX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3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1071283" y="4147823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</a:pPr>
            <a:r>
              <a:rPr lang="es-MX"/>
              <a:t>2</a:t>
            </a:r>
            <a:r>
              <a:rPr b="0" i="0" lang="es-MX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Objetivos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1071283" y="6367136"/>
            <a:ext cx="29285399" cy="16123688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rPr b="1" i="0" lang="es-MX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1" i="0" sz="7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t/>
            </a:r>
            <a:endParaRPr b="1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rPr lang="es-MX"/>
              <a:t>Desarrollar una plataforma basada en web para optimizar la gestión académica del Colegio Insurgentes, garantizando el control de usuarios, el cálculo automatizado de calificaciones y el acceso a la información escolar de manera segura y ordenada.</a:t>
            </a:r>
            <a:endParaRPr b="0" i="0" sz="7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t/>
            </a:r>
            <a:endParaRPr b="0" i="0" sz="7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t/>
            </a:r>
            <a:endParaRPr b="0" i="0" sz="7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fld id="{00000000-1234-1234-1234-123412341234}" type="slidenum">
              <a:rPr b="0" i="0" lang="es-MX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3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1071283" y="4147823"/>
            <a:ext cx="29285400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</a:pPr>
            <a:r>
              <a:rPr lang="es-MX"/>
              <a:t>2</a:t>
            </a:r>
            <a:r>
              <a:rPr b="0" i="0" lang="es-MX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Objetivos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>
            <p:ph idx="1" type="body"/>
          </p:nvPr>
        </p:nvSpPr>
        <p:spPr>
          <a:xfrm>
            <a:off x="1071283" y="6367136"/>
            <a:ext cx="29285400" cy="161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rPr b="1" i="0" lang="es-MX" sz="7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  <a:p>
            <a:pPr indent="-673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</a:pPr>
            <a:r>
              <a:rPr lang="es-MX"/>
              <a:t>Diseñar una base de datos relacional para el almacenamiento estructurado de la información escolar.</a:t>
            </a:r>
            <a:endParaRPr/>
          </a:p>
          <a:p>
            <a:pPr indent="-673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</a:pPr>
            <a:r>
              <a:rPr lang="es-MX"/>
              <a:t>Implementar una interfaz administrativa para la gestión de la estructura del colegio y sus usuarios.</a:t>
            </a:r>
            <a:endParaRPr/>
          </a:p>
          <a:p>
            <a:pPr indent="-673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</a:pPr>
            <a:r>
              <a:rPr lang="es-MX"/>
              <a:t>Desarrollar la lógica de negocio para que los docentes registren evaluaciones según su responsabilidad académica.</a:t>
            </a:r>
            <a:endParaRPr/>
          </a:p>
          <a:p>
            <a:pPr indent="-673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</a:pPr>
            <a:r>
              <a:rPr lang="es-MX"/>
              <a:t>Automatizar el cálculo de resultados finales para reducir la intervención manual y errores humanos.</a:t>
            </a:r>
            <a:endParaRPr/>
          </a:p>
          <a:p>
            <a:pPr indent="-673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Char char="●"/>
            </a:pPr>
            <a:r>
              <a:rPr lang="es-MX"/>
              <a:t>Elaborar la documentación técnica y manuales operativos de forma concurrente al desarrollo para asegurar la usabilidad del sistema.</a:t>
            </a:r>
            <a:endParaRPr/>
          </a:p>
        </p:txBody>
      </p:sp>
      <p:sp>
        <p:nvSpPr>
          <p:cNvPr id="77" name="Google Shape;77;p4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fld id="{00000000-1234-1234-1234-123412341234}" type="slidenum">
              <a:rPr b="0" i="0" lang="es-MX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3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1071283" y="429628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</a:pPr>
            <a:r>
              <a:rPr lang="es-MX"/>
              <a:t>3</a:t>
            </a:r>
            <a:r>
              <a:rPr b="0" i="0" lang="es-MX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Justificación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fld id="{00000000-1234-1234-1234-123412341234}" type="slidenum">
              <a:rPr b="0" i="0" lang="es-MX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3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 txBox="1"/>
          <p:nvPr>
            <p:ph idx="1" type="body"/>
          </p:nvPr>
        </p:nvSpPr>
        <p:spPr>
          <a:xfrm>
            <a:off x="2078181" y="7000483"/>
            <a:ext cx="27556800" cy="15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Font typeface="Arial"/>
              <a:buNone/>
            </a:pPr>
            <a:r>
              <a:rPr lang="es-MX"/>
              <a:t>La implementación de esta plataforma permitirá al Colegio Insurgentes reemplazar los procesos manuales y herramientas no profesionales que generan retrasos en la entrega de información académica. Al centralizar los datos, garantizamos que la información de calificaciones sea precisa y accesible únicamente para los usuarios autorizados, optimizando la toma de decisiones administrativas.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1071283" y="4296284"/>
            <a:ext cx="29285399" cy="27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None/>
            </a:pPr>
            <a:r>
              <a:rPr lang="es-MX"/>
              <a:t>4</a:t>
            </a:r>
            <a:r>
              <a:rPr b="0" i="0" lang="es-MX" sz="10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Cronograma de actividades</a:t>
            </a:r>
            <a:endParaRPr b="0" i="0" sz="10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fld id="{00000000-1234-1234-1234-123412341234}" type="slidenum">
              <a:rPr b="0" i="0" lang="es-MX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3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489" y="7264249"/>
            <a:ext cx="26614749" cy="1355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>
            <p:ph idx="1" type="body"/>
          </p:nvPr>
        </p:nvSpPr>
        <p:spPr>
          <a:xfrm>
            <a:off x="3727540" y="10790712"/>
            <a:ext cx="29285399" cy="16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3375" lIns="353375" spcFirstLastPara="1" rIns="353375" wrap="square" tIns="353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s-MX" sz="12000"/>
              <a:t>GRACIAS POR SU ATENCIÓN </a:t>
            </a:r>
            <a:endParaRPr sz="12000"/>
          </a:p>
        </p:txBody>
      </p:sp>
      <p:sp>
        <p:nvSpPr>
          <p:cNvPr id="97" name="Google Shape;97;p7"/>
          <p:cNvSpPr txBox="1"/>
          <p:nvPr>
            <p:ph idx="12" type="sldNum"/>
          </p:nvPr>
        </p:nvSpPr>
        <p:spPr>
          <a:xfrm>
            <a:off x="29119903" y="22017891"/>
            <a:ext cx="1885800" cy="18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3375" lIns="353375" spcFirstLastPara="1" rIns="353375" wrap="square" tIns="3533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